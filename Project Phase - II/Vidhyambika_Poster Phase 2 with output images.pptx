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43891200" cy="43891200"/>
  <p:notesSz cx="700405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3F"/>
    <a:srgbClr val="FFFFFF"/>
    <a:srgbClr val="003A74"/>
    <a:srgbClr val="EAEAEA"/>
    <a:srgbClr val="006699"/>
    <a:srgbClr val="CCECFF"/>
    <a:srgbClr val="F8F8F8"/>
    <a:srgbClr val="FFFF66"/>
    <a:srgbClr val="366E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B35FD-947D-4F6F-A1FE-40C13ECC5F10}" v="143" dt="2024-11-17T16:10:18.289"/>
    <p1510:client id="{B186E168-ABC4-4874-A728-F95E74152718}" v="9" dt="2024-11-17T16:11:08.641"/>
    <p1510:client id="{E77C18B8-B61C-2AF8-9713-55E19531B8CC}" v="18" dt="2024-11-16T16:28:20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" d="100"/>
          <a:sy n="10" d="100"/>
        </p:scale>
        <p:origin x="2443" y="418"/>
      </p:cViewPr>
      <p:guideLst>
        <p:guide orient="horz" pos="13824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YAVATHI S" userId="S::sathyavathi.s.it@kct.ac.in::157b087f-d5e8-439c-8e5a-fd56e14c08dd" providerId="AD" clId="Web-{B186E168-ABC4-4874-A728-F95E74152718}"/>
    <pc:docChg chg="modSld">
      <pc:chgData name="SATHYAVATHI S" userId="S::sathyavathi.s.it@kct.ac.in::157b087f-d5e8-439c-8e5a-fd56e14c08dd" providerId="AD" clId="Web-{B186E168-ABC4-4874-A728-F95E74152718}" dt="2024-11-17T16:11:08.281" v="3" actId="20577"/>
      <pc:docMkLst>
        <pc:docMk/>
      </pc:docMkLst>
      <pc:sldChg chg="modSp">
        <pc:chgData name="SATHYAVATHI S" userId="S::sathyavathi.s.it@kct.ac.in::157b087f-d5e8-439c-8e5a-fd56e14c08dd" providerId="AD" clId="Web-{B186E168-ABC4-4874-A728-F95E74152718}" dt="2024-11-17T16:11:08.281" v="3" actId="20577"/>
        <pc:sldMkLst>
          <pc:docMk/>
          <pc:sldMk cId="0" sldId="256"/>
        </pc:sldMkLst>
        <pc:spChg chg="mod">
          <ac:chgData name="SATHYAVATHI S" userId="S::sathyavathi.s.it@kct.ac.in::157b087f-d5e8-439c-8e5a-fd56e14c08dd" providerId="AD" clId="Web-{B186E168-ABC4-4874-A728-F95E74152718}" dt="2024-11-17T16:11:08.281" v="3" actId="20577"/>
          <ac:spMkLst>
            <pc:docMk/>
            <pc:sldMk cId="0" sldId="256"/>
            <ac:spMk id="6" creationId="{9B9E8F4D-936F-5C1F-F3A4-948AE887269F}"/>
          </ac:spMkLst>
        </pc:spChg>
      </pc:sldChg>
    </pc:docChg>
  </pc:docChgLst>
  <pc:docChgLst>
    <pc:chgData name="SATHYAVATHI S" userId="S::sathyavathi.s.it@kct.ac.in::157b087f-d5e8-439c-8e5a-fd56e14c08dd" providerId="AD" clId="Web-{E77C18B8-B61C-2AF8-9713-55E19531B8CC}"/>
    <pc:docChg chg="modSld">
      <pc:chgData name="SATHYAVATHI S" userId="S::sathyavathi.s.it@kct.ac.in::157b087f-d5e8-439c-8e5a-fd56e14c08dd" providerId="AD" clId="Web-{E77C18B8-B61C-2AF8-9713-55E19531B8CC}" dt="2024-11-16T16:28:20.091" v="16" actId="1076"/>
      <pc:docMkLst>
        <pc:docMk/>
      </pc:docMkLst>
      <pc:sldChg chg="modSp">
        <pc:chgData name="SATHYAVATHI S" userId="S::sathyavathi.s.it@kct.ac.in::157b087f-d5e8-439c-8e5a-fd56e14c08dd" providerId="AD" clId="Web-{E77C18B8-B61C-2AF8-9713-55E19531B8CC}" dt="2024-11-16T16:28:20.091" v="16" actId="1076"/>
        <pc:sldMkLst>
          <pc:docMk/>
          <pc:sldMk cId="0" sldId="256"/>
        </pc:sldMkLst>
        <pc:spChg chg="mod">
          <ac:chgData name="SATHYAVATHI S" userId="S::sathyavathi.s.it@kct.ac.in::157b087f-d5e8-439c-8e5a-fd56e14c08dd" providerId="AD" clId="Web-{E77C18B8-B61C-2AF8-9713-55E19531B8CC}" dt="2024-11-16T16:28:09.044" v="14"/>
          <ac:spMkLst>
            <pc:docMk/>
            <pc:sldMk cId="0" sldId="256"/>
            <ac:spMk id="6" creationId="{9B9E8F4D-936F-5C1F-F3A4-948AE887269F}"/>
          </ac:spMkLst>
        </pc:spChg>
        <pc:spChg chg="mod">
          <ac:chgData name="SATHYAVATHI S" userId="S::sathyavathi.s.it@kct.ac.in::157b087f-d5e8-439c-8e5a-fd56e14c08dd" providerId="AD" clId="Web-{E77C18B8-B61C-2AF8-9713-55E19531B8CC}" dt="2024-11-16T16:28:20.091" v="16" actId="1076"/>
          <ac:spMkLst>
            <pc:docMk/>
            <pc:sldMk cId="0" sldId="256"/>
            <ac:spMk id="9" creationId="{4F1F8F06-C63C-74CD-E41F-D71B3E961237}"/>
          </ac:spMkLst>
        </pc:spChg>
        <pc:spChg chg="mod">
          <ac:chgData name="SATHYAVATHI S" userId="S::sathyavathi.s.it@kct.ac.in::157b087f-d5e8-439c-8e5a-fd56e14c08dd" providerId="AD" clId="Web-{E77C18B8-B61C-2AF8-9713-55E19531B8CC}" dt="2024-11-16T16:28:15.075" v="15" actId="1076"/>
          <ac:spMkLst>
            <pc:docMk/>
            <pc:sldMk cId="0" sldId="256"/>
            <ac:spMk id="12" creationId="{287480D7-6AC4-5C33-F8D7-1AB4D5F288D2}"/>
          </ac:spMkLst>
        </pc:spChg>
        <pc:spChg chg="mod">
          <ac:chgData name="SATHYAVATHI S" userId="S::sathyavathi.s.it@kct.ac.in::157b087f-d5e8-439c-8e5a-fd56e14c08dd" providerId="AD" clId="Web-{E77C18B8-B61C-2AF8-9713-55E19531B8CC}" dt="2024-11-16T16:27:00.043" v="4" actId="1076"/>
          <ac:spMkLst>
            <pc:docMk/>
            <pc:sldMk cId="0" sldId="256"/>
            <ac:spMk id="2101" creationId="{B4EB8113-C8D7-7581-C94B-A47C2D258D6B}"/>
          </ac:spMkLst>
        </pc:spChg>
        <pc:spChg chg="mod">
          <ac:chgData name="SATHYAVATHI S" userId="S::sathyavathi.s.it@kct.ac.in::157b087f-d5e8-439c-8e5a-fd56e14c08dd" providerId="AD" clId="Web-{E77C18B8-B61C-2AF8-9713-55E19531B8CC}" dt="2024-11-16T16:26:39.808" v="2" actId="14100"/>
          <ac:spMkLst>
            <pc:docMk/>
            <pc:sldMk cId="0" sldId="256"/>
            <ac:spMk id="2317" creationId="{AFDD86E5-492A-81DA-1888-7CC15AB73483}"/>
          </ac:spMkLst>
        </pc:spChg>
        <pc:spChg chg="mod">
          <ac:chgData name="SATHYAVATHI S" userId="S::sathyavathi.s.it@kct.ac.in::157b087f-d5e8-439c-8e5a-fd56e14c08dd" providerId="AD" clId="Web-{E77C18B8-B61C-2AF8-9713-55E19531B8CC}" dt="2024-11-16T16:27:45.684" v="10" actId="14100"/>
          <ac:spMkLst>
            <pc:docMk/>
            <pc:sldMk cId="0" sldId="256"/>
            <ac:spMk id="2319" creationId="{18DC5DF0-A5B3-2B4A-E88E-ADEE4809DB67}"/>
          </ac:spMkLst>
        </pc:spChg>
      </pc:sldChg>
    </pc:docChg>
  </pc:docChgLst>
  <pc:docChgLst>
    <pc:chgData name="SATHYAVATHI S" userId="S::sathyavathi.s.it@kct.ac.in::157b087f-d5e8-439c-8e5a-fd56e14c08dd" providerId="AD" clId="Web-{355B35FD-947D-4F6F-A1FE-40C13ECC5F10}"/>
    <pc:docChg chg="modSld">
      <pc:chgData name="SATHYAVATHI S" userId="S::sathyavathi.s.it@kct.ac.in::157b087f-d5e8-439c-8e5a-fd56e14c08dd" providerId="AD" clId="Web-{355B35FD-947D-4F6F-A1FE-40C13ECC5F10}" dt="2024-11-17T16:10:18.273" v="107" actId="20577"/>
      <pc:docMkLst>
        <pc:docMk/>
      </pc:docMkLst>
      <pc:sldChg chg="modSp">
        <pc:chgData name="SATHYAVATHI S" userId="S::sathyavathi.s.it@kct.ac.in::157b087f-d5e8-439c-8e5a-fd56e14c08dd" providerId="AD" clId="Web-{355B35FD-947D-4F6F-A1FE-40C13ECC5F10}" dt="2024-11-17T16:10:18.273" v="107" actId="20577"/>
        <pc:sldMkLst>
          <pc:docMk/>
          <pc:sldMk cId="0" sldId="256"/>
        </pc:sldMkLst>
        <pc:spChg chg="mod">
          <ac:chgData name="SATHYAVATHI S" userId="S::sathyavathi.s.it@kct.ac.in::157b087f-d5e8-439c-8e5a-fd56e14c08dd" providerId="AD" clId="Web-{355B35FD-947D-4F6F-A1FE-40C13ECC5F10}" dt="2024-11-17T16:10:18.273" v="107" actId="20577"/>
          <ac:spMkLst>
            <pc:docMk/>
            <pc:sldMk cId="0" sldId="256"/>
            <ac:spMk id="6" creationId="{9B9E8F4D-936F-5C1F-F3A4-948AE887269F}"/>
          </ac:spMkLst>
        </pc:spChg>
        <pc:spChg chg="mod">
          <ac:chgData name="SATHYAVATHI S" userId="S::sathyavathi.s.it@kct.ac.in::157b087f-d5e8-439c-8e5a-fd56e14c08dd" providerId="AD" clId="Web-{355B35FD-947D-4F6F-A1FE-40C13ECC5F10}" dt="2024-11-17T16:09:53.882" v="100" actId="1076"/>
          <ac:spMkLst>
            <pc:docMk/>
            <pc:sldMk cId="0" sldId="256"/>
            <ac:spMk id="9" creationId="{4F1F8F06-C63C-74CD-E41F-D71B3E961237}"/>
          </ac:spMkLst>
        </pc:spChg>
        <pc:spChg chg="mod">
          <ac:chgData name="SATHYAVATHI S" userId="S::sathyavathi.s.it@kct.ac.in::157b087f-d5e8-439c-8e5a-fd56e14c08dd" providerId="AD" clId="Web-{355B35FD-947D-4F6F-A1FE-40C13ECC5F10}" dt="2024-11-17T16:09:43.226" v="98" actId="14100"/>
          <ac:spMkLst>
            <pc:docMk/>
            <pc:sldMk cId="0" sldId="256"/>
            <ac:spMk id="12" creationId="{287480D7-6AC4-5C33-F8D7-1AB4D5F288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7163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F9802-1E62-47B0-B869-0F30B5B08C8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35163" y="1160463"/>
            <a:ext cx="3133725" cy="3133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67225"/>
            <a:ext cx="5603875" cy="36560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8563"/>
            <a:ext cx="30353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7163" y="8818563"/>
            <a:ext cx="30353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101CB-DBD4-42D4-A370-3FC141A0C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9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101CB-DBD4-42D4-A370-3FC141A0CB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27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7183438"/>
            <a:ext cx="32918400" cy="1527968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23053675"/>
            <a:ext cx="32918400" cy="105965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85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838" y="2336800"/>
            <a:ext cx="37855525" cy="848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838" y="11684000"/>
            <a:ext cx="37855525" cy="27847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046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025" y="10942638"/>
            <a:ext cx="37857113" cy="182578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025" y="29371925"/>
            <a:ext cx="37857113" cy="960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256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838" y="2336800"/>
            <a:ext cx="37855525" cy="848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838" y="11684000"/>
            <a:ext cx="18851562" cy="27847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11684000"/>
            <a:ext cx="18851563" cy="27847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8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600" y="2336800"/>
            <a:ext cx="37857113" cy="848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2600" y="10760075"/>
            <a:ext cx="18568988" cy="52720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2600" y="16032163"/>
            <a:ext cx="18568988" cy="2358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20238" y="10760075"/>
            <a:ext cx="18659475" cy="52720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20238" y="16032163"/>
            <a:ext cx="18659475" cy="2358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12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838" y="2336800"/>
            <a:ext cx="37855525" cy="848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099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35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600" y="2925763"/>
            <a:ext cx="14157325" cy="10240962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5" y="6319838"/>
            <a:ext cx="22220238" cy="31191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2600" y="13166725"/>
            <a:ext cx="14157325" cy="24395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388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600" y="2925763"/>
            <a:ext cx="14157325" cy="10240962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659475" y="6319838"/>
            <a:ext cx="22220238" cy="3119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2600" y="13166725"/>
            <a:ext cx="14157325" cy="24395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1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838" y="2336800"/>
            <a:ext cx="37855525" cy="848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838" y="11684000"/>
            <a:ext cx="37855525" cy="278479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2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10275" y="2336800"/>
            <a:ext cx="9463088" cy="371951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838" y="2336800"/>
            <a:ext cx="28240037" cy="371951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11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>
            <a:extLst>
              <a:ext uri="{FF2B5EF4-FFF2-40B4-BE49-F238E27FC236}">
                <a16:creationId xmlns:a16="http://schemas.microsoft.com/office/drawing/2014/main" id="{746E8D3D-6DEF-C957-655D-7B4C22F2BD2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940425"/>
            <a:ext cx="9140825" cy="379349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txBody>
          <a:bodyPr wrap="none" lIns="457200" tIns="228600" rIns="457200" bIns="457200"/>
          <a:lstStyle>
            <a:lvl1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4800">
              <a:latin typeface="Impact" panose="020B0806030902050204" pitchFamily="34" charset="0"/>
            </a:endParaRP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494CD157-3053-AF16-55FF-F12ABC77C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40825" y="0"/>
            <a:ext cx="34736088" cy="5942013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txBody>
          <a:bodyPr wrap="none" lIns="457200" tIns="457200" rIns="457200" bIns="457200"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C6E62E93-4A74-6F85-9E02-751D70AE49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40825" y="5940425"/>
            <a:ext cx="34736088" cy="37934900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</p:spPr>
        <p:txBody>
          <a:bodyPr wrap="none" lIns="457200" tIns="457200" rIns="457200" bIns="457200"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1029" name="Line 11">
            <a:extLst>
              <a:ext uri="{FF2B5EF4-FFF2-40B4-BE49-F238E27FC236}">
                <a16:creationId xmlns:a16="http://schemas.microsoft.com/office/drawing/2014/main" id="{FA531C67-0926-4B68-2202-BF06A364906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44000" y="0"/>
            <a:ext cx="0" cy="43891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30" name="Line 12">
            <a:extLst>
              <a:ext uri="{FF2B5EF4-FFF2-40B4-BE49-F238E27FC236}">
                <a16:creationId xmlns:a16="http://schemas.microsoft.com/office/drawing/2014/main" id="{3BD837EA-A1E2-9EC5-A3F4-56B38D0CA9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5940425"/>
            <a:ext cx="4387691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" name="Picture 15">
            <a:extLst>
              <a:ext uri="{FF2B5EF4-FFF2-40B4-BE49-F238E27FC236}">
                <a16:creationId xmlns:a16="http://schemas.microsoft.com/office/drawing/2014/main" id="{083DA1C2-0BC1-2D95-626F-905470B8CD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3367325"/>
            <a:ext cx="35020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438" rtl="0" eaLnBrk="0" fontAlgn="base" hangingPunct="0">
        <a:spcBef>
          <a:spcPct val="0"/>
        </a:spcBef>
        <a:spcAft>
          <a:spcPct val="0"/>
        </a:spcAft>
        <a:defRPr sz="211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389438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panose="020B0604020202020204" pitchFamily="34" charset="0"/>
        </a:defRPr>
      </a:lvl2pPr>
      <a:lvl3pPr algn="ctr" defTabSz="4389438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panose="020B0604020202020204" pitchFamily="34" charset="0"/>
        </a:defRPr>
      </a:lvl3pPr>
      <a:lvl4pPr algn="ctr" defTabSz="4389438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panose="020B0604020202020204" pitchFamily="34" charset="0"/>
        </a:defRPr>
      </a:lvl4pPr>
      <a:lvl5pPr algn="ctr" defTabSz="4389438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panose="020B0604020202020204" pitchFamily="34" charset="0"/>
        </a:defRPr>
      </a:lvl5pPr>
      <a:lvl6pPr marL="4572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panose="020B0604020202020204" pitchFamily="34" charset="0"/>
        </a:defRPr>
      </a:lvl6pPr>
      <a:lvl7pPr marL="9144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panose="020B0604020202020204" pitchFamily="34" charset="0"/>
        </a:defRPr>
      </a:lvl7pPr>
      <a:lvl8pPr marL="13716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panose="020B0604020202020204" pitchFamily="34" charset="0"/>
        </a:defRPr>
      </a:lvl8pPr>
      <a:lvl9pPr marL="18288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1646238" indent="-1646238" algn="l" defTabSz="4389438" rtl="0" eaLnBrk="0" fontAlgn="base" hangingPunct="0">
        <a:spcBef>
          <a:spcPct val="20000"/>
        </a:spcBef>
        <a:spcAft>
          <a:spcPct val="0"/>
        </a:spcAft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525" indent="-1371600" algn="l" defTabSz="4389438" rtl="0" eaLnBrk="0" fontAlgn="base" hangingPunct="0">
        <a:spcBef>
          <a:spcPct val="20000"/>
        </a:spcBef>
        <a:spcAft>
          <a:spcPct val="0"/>
        </a:spcAft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6963" algn="l" defTabSz="4389438" rtl="0" eaLnBrk="0" fontAlgn="base" hangingPunct="0">
        <a:spcBef>
          <a:spcPct val="20000"/>
        </a:spcBef>
        <a:spcAft>
          <a:spcPct val="0"/>
        </a:spcAft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325" indent="-1096963" algn="l" defTabSz="4389438" rtl="0" eaLnBrk="0" fontAlgn="base" hangingPunct="0">
        <a:spcBef>
          <a:spcPct val="20000"/>
        </a:spcBef>
        <a:spcAft>
          <a:spcPct val="0"/>
        </a:spcAft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838" indent="-1096963" algn="l" defTabSz="4389438" rtl="0" eaLnBrk="0" fontAlgn="base" hangingPunct="0">
        <a:spcBef>
          <a:spcPct val="20000"/>
        </a:spcBef>
        <a:spcAft>
          <a:spcPct val="0"/>
        </a:spcAft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86">
            <a:extLst>
              <a:ext uri="{FF2B5EF4-FFF2-40B4-BE49-F238E27FC236}">
                <a16:creationId xmlns:a16="http://schemas.microsoft.com/office/drawing/2014/main" id="{BA3D56EF-33A8-8BAF-6E9B-B39957EC6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825" y="0"/>
            <a:ext cx="34736088" cy="30480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lIns="457200" tIns="914400" rIns="457200" bIns="457200" anchor="ctr" anchorCtr="1"/>
          <a:lstStyle>
            <a:lvl1pPr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8800" dirty="0">
                <a:solidFill>
                  <a:schemeClr val="bg1"/>
                </a:solidFill>
                <a:latin typeface="Impact" panose="020B0806030902050204" pitchFamily="34" charset="0"/>
              </a:rPr>
              <a:t>Medical Image Security and Anomaly Detection</a:t>
            </a:r>
          </a:p>
          <a:p>
            <a:pPr algn="ctr" eaLnBrk="1" hangingPunct="1"/>
            <a:r>
              <a:rPr lang="en-GB" sz="6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 Healthcare and Cohort: Cybersecurity</a:t>
            </a:r>
            <a:endParaRPr lang="en-US" altLang="en-US" sz="6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1" name="Text Box 187">
            <a:extLst>
              <a:ext uri="{FF2B5EF4-FFF2-40B4-BE49-F238E27FC236}">
                <a16:creationId xmlns:a16="http://schemas.microsoft.com/office/drawing/2014/main" id="{3F466F0A-2906-B339-7EF0-F47292380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7877" y="3322198"/>
            <a:ext cx="34736088" cy="235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0" tIns="457200" rIns="457200" bIns="457200" anchor="ctr" anchorCtr="1"/>
          <a:lstStyle>
            <a:lvl1pPr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5400" dirty="0">
                <a:solidFill>
                  <a:schemeClr val="bg1"/>
                </a:solidFill>
                <a:latin typeface="+mj-lt"/>
              </a:rPr>
              <a:t>S.R. </a:t>
            </a:r>
            <a:r>
              <a:rPr lang="en-US" altLang="en-US" sz="5400" dirty="0" err="1">
                <a:solidFill>
                  <a:schemeClr val="bg1"/>
                </a:solidFill>
                <a:latin typeface="+mj-lt"/>
              </a:rPr>
              <a:t>Vidhyambika</a:t>
            </a:r>
            <a:r>
              <a:rPr lang="en-US" altLang="en-US" sz="5400" dirty="0">
                <a:solidFill>
                  <a:schemeClr val="bg1"/>
                </a:solidFill>
                <a:latin typeface="+mj-lt"/>
              </a:rPr>
              <a:t> </a:t>
            </a:r>
            <a:endParaRPr lang="en-US" altLang="en-US" sz="5400" dirty="0">
              <a:solidFill>
                <a:schemeClr val="bg1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2" name="Text Box 194">
            <a:extLst>
              <a:ext uri="{FF2B5EF4-FFF2-40B4-BE49-F238E27FC236}">
                <a16:creationId xmlns:a16="http://schemas.microsoft.com/office/drawing/2014/main" id="{E5E160D9-4350-1617-EA05-B316D88B0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0" y="6102350"/>
            <a:ext cx="10055225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lIns="228600" tIns="228600" rIns="228600" bIns="228600" anchor="ctr" anchorCtr="1"/>
          <a:lstStyle>
            <a:lvl1pPr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OF THE STUDY</a:t>
            </a:r>
          </a:p>
        </p:txBody>
      </p:sp>
      <p:sp>
        <p:nvSpPr>
          <p:cNvPr id="2053" name="Text Box 198">
            <a:extLst>
              <a:ext uri="{FF2B5EF4-FFF2-40B4-BE49-F238E27FC236}">
                <a16:creationId xmlns:a16="http://schemas.microsoft.com/office/drawing/2014/main" id="{B8E0F900-E777-9A54-CB9B-15B2C12CB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07288" y="6102350"/>
            <a:ext cx="10055225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lIns="228600" tIns="228600" rIns="228600" bIns="228600" anchor="ctr" anchorCtr="1"/>
          <a:lstStyle>
            <a:lvl1pPr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sp>
        <p:nvSpPr>
          <p:cNvPr id="2054" name="Text Box 199">
            <a:extLst>
              <a:ext uri="{FF2B5EF4-FFF2-40B4-BE49-F238E27FC236}">
                <a16:creationId xmlns:a16="http://schemas.microsoft.com/office/drawing/2014/main" id="{2110396C-D197-B2A6-EFC3-F5C588078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2468" y="6122524"/>
            <a:ext cx="10969625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lIns="228600" tIns="228600" rIns="228600" bIns="228600" anchor="ctr" anchorCtr="1"/>
          <a:lstStyle>
            <a:lvl1pPr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DESIGN/PROPOSED SYSTEM</a:t>
            </a:r>
            <a:endParaRPr lang="en-US" altLang="en-US" sz="5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4" name="Text Box 246">
            <a:extLst>
              <a:ext uri="{FF2B5EF4-FFF2-40B4-BE49-F238E27FC236}">
                <a16:creationId xmlns:a16="http://schemas.microsoft.com/office/drawing/2014/main" id="{18559614-1CD5-4C23-5B09-88B432192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2350"/>
            <a:ext cx="9140825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lIns="228600" tIns="228600" rIns="228600" bIns="228600" anchor="ctr" anchorCtr="1"/>
          <a:lstStyle>
            <a:lvl1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</a:t>
            </a:r>
          </a:p>
        </p:txBody>
      </p:sp>
      <p:sp>
        <p:nvSpPr>
          <p:cNvPr id="2101" name="Text Box 259">
            <a:extLst>
              <a:ext uri="{FF2B5EF4-FFF2-40B4-BE49-F238E27FC236}">
                <a16:creationId xmlns:a16="http://schemas.microsoft.com/office/drawing/2014/main" id="{B4EB8113-C8D7-7581-C94B-A47C2D258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5692" y="32125364"/>
            <a:ext cx="10055225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lIns="228600" tIns="228600" rIns="228600" bIns="228600" anchor="ctr" anchorCtr="1"/>
          <a:lstStyle>
            <a:lvl1pPr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SYSTEM</a:t>
            </a:r>
          </a:p>
        </p:txBody>
      </p:sp>
      <p:sp>
        <p:nvSpPr>
          <p:cNvPr id="2102" name="Text Box 261">
            <a:extLst>
              <a:ext uri="{FF2B5EF4-FFF2-40B4-BE49-F238E27FC236}">
                <a16:creationId xmlns:a16="http://schemas.microsoft.com/office/drawing/2014/main" id="{4D5F6B06-06B7-CA45-00EE-D3B79D17A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04111" y="33679479"/>
            <a:ext cx="10055225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lIns="228600" tIns="228600" rIns="228600" bIns="228600" anchor="ctr" anchorCtr="1"/>
          <a:lstStyle>
            <a:lvl1pPr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</p:txBody>
      </p:sp>
      <p:sp>
        <p:nvSpPr>
          <p:cNvPr id="2105" name="Text Box 266">
            <a:extLst>
              <a:ext uri="{FF2B5EF4-FFF2-40B4-BE49-F238E27FC236}">
                <a16:creationId xmlns:a16="http://schemas.microsoft.com/office/drawing/2014/main" id="{15B412AB-A76F-227A-6E37-19028BED8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5119" y="42321540"/>
            <a:ext cx="9204720" cy="1569660"/>
          </a:xfrm>
          <a:prstGeom prst="rect">
            <a:avLst/>
          </a:prstGeom>
          <a:solidFill>
            <a:srgbClr val="003A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228600" tIns="228600" rIns="228600" bIns="228600">
            <a:spAutoFit/>
          </a:bodyPr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algn="just"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2315" name="Text Box 267">
            <a:extLst>
              <a:ext uri="{FF2B5EF4-FFF2-40B4-BE49-F238E27FC236}">
                <a16:creationId xmlns:a16="http://schemas.microsoft.com/office/drawing/2014/main" id="{848977CA-6D15-0BEC-20CC-7ECCB392E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2469" y="7630468"/>
            <a:ext cx="10969625" cy="175729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228600" tIns="228600" rIns="228600" bIns="228600"/>
          <a:lstStyle/>
          <a:p>
            <a:pPr marL="0" lvl="1" algn="just"/>
            <a:r>
              <a:rPr lang="en-US" altLang="en-US" sz="5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IN" altLang="en-US" sz="5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image datasets are collected, pre-processed, labelled and stored. </a:t>
            </a:r>
          </a:p>
          <a:p>
            <a:pPr marL="0" lvl="1" algn="just"/>
            <a:r>
              <a:rPr lang="en-US" altLang="en-US" sz="5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Seven hybrid algorithms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r>
              <a:rPr lang="en-US" altLang="en-US" sz="5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RSA+AES+ SHA-256, Chaotic </a:t>
            </a:r>
            <a:r>
              <a:rPr lang="en-US" altLang="en-US" sz="51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Maps+AES</a:t>
            </a:r>
            <a:r>
              <a:rPr lang="en-US" altLang="en-US" sz="5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Blowfish+ SHA-256, ECC+AES+SHA-256, DES+AES+ MD5, DNA </a:t>
            </a:r>
            <a:r>
              <a:rPr lang="en-US" altLang="en-US" sz="51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Cryptography+AES</a:t>
            </a:r>
            <a:r>
              <a:rPr lang="en-US" altLang="en-US" sz="5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en-US" sz="51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Mtd</a:t>
            </a:r>
            <a:r>
              <a:rPr lang="en-US" altLang="en-US" sz="5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 &amp; 2) and AES+ SHA-256, are implemented to enhance security, speed, accuracy and resilience against attacks. </a:t>
            </a:r>
          </a:p>
          <a:p>
            <a:pPr marL="0" lvl="1" algn="just"/>
            <a:endParaRPr lang="en-US" altLang="en-US" sz="5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/>
            <a:endParaRPr lang="en-US" altLang="en-US" sz="5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/>
            <a:endParaRPr lang="en-US" altLang="en-US" sz="5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/>
            <a:endParaRPr lang="en-US" altLang="en-US" sz="5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/>
            <a:r>
              <a:rPr lang="en-US" altLang="en-US" sz="5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IN" altLang="en-US" sz="5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 deep learning models—</a:t>
            </a:r>
            <a:r>
              <a:rPr lang="en-IN" altLang="en-US" sz="51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Autoencoder+CNN</a:t>
            </a:r>
            <a:r>
              <a:rPr lang="en-IN" altLang="en-US" sz="5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GAN+CNN—are trained &amp; tested to classify anomalies.</a:t>
            </a:r>
            <a:endParaRPr lang="en-US" altLang="en-US" sz="5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/>
            <a:endParaRPr lang="en-US" altLang="en-US" sz="5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/>
            <a:endParaRPr lang="en-US" altLang="en-US" sz="5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/>
            <a:endParaRPr lang="en-US" altLang="en-US" sz="5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/>
            <a:endParaRPr lang="en-US" altLang="en-US" sz="5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/>
            <a:endParaRPr lang="en-US" altLang="en-US" sz="5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6" name="Text Box 268">
            <a:extLst>
              <a:ext uri="{FF2B5EF4-FFF2-40B4-BE49-F238E27FC236}">
                <a16:creationId xmlns:a16="http://schemas.microsoft.com/office/drawing/2014/main" id="{3C1E7F46-1972-356B-38A7-589DDE48C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29511" y="7646076"/>
            <a:ext cx="10055225" cy="258228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228600" tIns="228600" rIns="228600" bIns="228600"/>
          <a:lstStyle/>
          <a:p>
            <a:endParaRPr lang="en-GB" sz="5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5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7" name="Text Box 269">
            <a:extLst>
              <a:ext uri="{FF2B5EF4-FFF2-40B4-BE49-F238E27FC236}">
                <a16:creationId xmlns:a16="http://schemas.microsoft.com/office/drawing/2014/main" id="{AFDD86E5-492A-81DA-1888-7CC15AB73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5220" y="33710880"/>
            <a:ext cx="10055225" cy="79014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228600" tIns="228600" rIns="228600" bIns="228600"/>
          <a:lstStyle/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Watermarking (spatial / frequency domains), steganography (using random cover images), weak encryption (e.g., DES), and hashing are vulnerable to cryptanalysis and brute force attacks.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methods can cause visible artifacts, low PSNR, overfitting, and distortion, compromising 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N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ecurity and diagnostic accuracy.</a:t>
            </a:r>
            <a:endParaRPr lang="en-GB" sz="4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8" name="Text Box 270">
            <a:extLst>
              <a:ext uri="{FF2B5EF4-FFF2-40B4-BE49-F238E27FC236}">
                <a16:creationId xmlns:a16="http://schemas.microsoft.com/office/drawing/2014/main" id="{B3A8B7B1-50E3-80C1-E505-C09BF43D1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23644" y="35261643"/>
            <a:ext cx="10067924" cy="629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228600" tIns="228600" rIns="228600" bIns="228600"/>
          <a:lstStyle/>
          <a:p>
            <a:pPr marL="857250" indent="-857250" algn="just">
              <a:buFont typeface="Arial" panose="020B0604020202020204" pitchFamily="34" charset="0"/>
              <a:buChar char="•"/>
              <a:defRPr/>
            </a:pPr>
            <a:r>
              <a:rPr lang="en-IN" alt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lightweight, robust hybrid encryption methods for 3D medical images, addressing data handling, structural, and security challenges in healthcare solutions.</a:t>
            </a:r>
          </a:p>
          <a:p>
            <a:pPr marL="857250" indent="-857250" algn="just">
              <a:buFont typeface="Arial" panose="020B0604020202020204" pitchFamily="34" charset="0"/>
              <a:buChar char="•"/>
              <a:defRPr/>
            </a:pPr>
            <a:r>
              <a:rPr lang="en-IN" alt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 anomaly detection to cover diverse distortions imaging modalities with better accuracy.</a:t>
            </a:r>
            <a:endParaRPr lang="en-US" altLang="en-US" sz="4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9" name="Text Box 271">
            <a:extLst>
              <a:ext uri="{FF2B5EF4-FFF2-40B4-BE49-F238E27FC236}">
                <a16:creationId xmlns:a16="http://schemas.microsoft.com/office/drawing/2014/main" id="{18DC5DF0-A5B3-2B4A-E88E-ADEE4809D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5225" y="7581780"/>
            <a:ext cx="10055225" cy="243296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228600" tIns="228600" rIns="228600" bIns="228600" anchor="t"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images like X-rays and MRIs are vital for diagnosis but contain sensitive data, making them prone to breaches and tampering that compromise patient privacy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9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Significance: </a:t>
            </a:r>
            <a:r>
              <a:rPr lang="en-IN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Securing these images ensures diagnostic integrity and compliance with HIPAA/GDPR. ML/DL methods enable real-time anomaly and tamper detection.</a:t>
            </a:r>
            <a:endParaRPr lang="en-US" sz="4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9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identified: </a:t>
            </a:r>
            <a:r>
              <a:rPr lang="en-US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solutions </a:t>
            </a:r>
            <a:r>
              <a:rPr lang="en-IN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solely on either encryption or anomaly detection, lacking a unified framework. Many are also resource-intensive and yield low entropy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IN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integrates hybrid encryption with AI-driven anomaly detection 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IN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</a:t>
            </a:r>
            <a:r>
              <a:rPr lang="en-IN" sz="4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security and reliability.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Datasets used: 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Chest CT scans from the Cancer Imaging Archive and 2D Pneumonia Chest X-rays from Kaggle and </a:t>
            </a:r>
            <a:r>
              <a:rPr lang="en-IN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MedMNIST’s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Pneumonia-MNIST datasets were used, with images in DICOM/JPEG formats stored as .</a:t>
            </a:r>
            <a:r>
              <a:rPr lang="en-IN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npz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files. In the combined Kaggle + </a:t>
            </a:r>
            <a:r>
              <a:rPr lang="en-IN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MedMNIST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set, images were </a:t>
            </a:r>
            <a:r>
              <a:rPr lang="en-IN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labeled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5 classes—normal and 4 anomaly types: scratch, blur/noise, contrast, and brightness. Natural anomalies were manually </a:t>
            </a:r>
            <a:r>
              <a:rPr lang="en-IN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labeled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synthetic ones were added to a few images to balance all categories.</a:t>
            </a:r>
            <a:endParaRPr lang="en-US" sz="49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Box 246">
            <a:extLst>
              <a:ext uri="{FF2B5EF4-FFF2-40B4-BE49-F238E27FC236}">
                <a16:creationId xmlns:a16="http://schemas.microsoft.com/office/drawing/2014/main" id="{82FB177B-42DE-74C0-3262-12D89226A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5220" y="42040175"/>
            <a:ext cx="32907293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lIns="228600" tIns="228600" rIns="228600" bIns="228600" anchor="ctr" anchorCtr="1"/>
          <a:lstStyle>
            <a:lvl1pPr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4800">
              <a:latin typeface="Impact" panose="020B0806030902050204" pitchFamily="34" charset="0"/>
            </a:endParaRPr>
          </a:p>
        </p:txBody>
      </p:sp>
      <p:sp>
        <p:nvSpPr>
          <p:cNvPr id="6" name="Text Box 266">
            <a:extLst>
              <a:ext uri="{FF2B5EF4-FFF2-40B4-BE49-F238E27FC236}">
                <a16:creationId xmlns:a16="http://schemas.microsoft.com/office/drawing/2014/main" id="{9B9E8F4D-936F-5C1F-F3A4-948AE8872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1" y="7494124"/>
            <a:ext cx="9140825" cy="23083242"/>
          </a:xfrm>
          <a:prstGeom prst="rect">
            <a:avLst/>
          </a:prstGeom>
          <a:solidFill>
            <a:srgbClr val="003A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228600" tIns="228600" rIns="228600" bIns="228600" anchor="t">
            <a:spAutoFit/>
          </a:bodyPr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GB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the growing reliance on digital healthcare, securing medical images is vital to protect patient privacy, trust and prevent data tampering.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GB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presents hybrid cryptographic algorithms: RSA +AES+SHA-256, ECC+AES+ SHA-256, AES+SHA-256, Chaotic </a:t>
            </a:r>
            <a:r>
              <a:rPr lang="en-GB" sz="49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Maps+AES</a:t>
            </a:r>
            <a:r>
              <a:rPr lang="en-GB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Blowfish+SHA-256, DNA Cryptography+ AES (</a:t>
            </a:r>
            <a:r>
              <a:rPr lang="en-GB" sz="49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Mtd</a:t>
            </a:r>
            <a:r>
              <a:rPr lang="en-GB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 &amp; 2), and DES+AES+ MD5 for medical image security.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algorithms were assessed using metrics &amp; achieved MSE=0, SSIM=1, entropy&gt;7, edge preservation=1, PSNR=∞, histogram correlation &lt;0.00 encryption &lt;1ms—ensuring robust security, image quality, &amp; minimal encryption time for real-time telemedicine.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ensemble of CNN-based Autoencoders &amp; GANs detects scratch, blur/noise, contrast, brightness anomalies, or normal to spot unauthorized alterations &amp; transmission errors in real-time.</a:t>
            </a:r>
          </a:p>
        </p:txBody>
      </p:sp>
      <p:sp>
        <p:nvSpPr>
          <p:cNvPr id="9" name="Text Box 246">
            <a:extLst>
              <a:ext uri="{FF2B5EF4-FFF2-40B4-BE49-F238E27FC236}">
                <a16:creationId xmlns:a16="http://schemas.microsoft.com/office/drawing/2014/main" id="{4F1F8F06-C63C-74CD-E41F-D71B3E961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3" y="29457532"/>
            <a:ext cx="9140824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lIns="228600" tIns="228600" rIns="228600" bIns="228600" anchor="ctr" anchorCtr="1"/>
          <a:lstStyle>
            <a:lvl1pPr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OF THE PROJECT</a:t>
            </a:r>
          </a:p>
        </p:txBody>
      </p:sp>
      <p:sp>
        <p:nvSpPr>
          <p:cNvPr id="7" name="Text Box 270">
            <a:extLst>
              <a:ext uri="{FF2B5EF4-FFF2-40B4-BE49-F238E27FC236}">
                <a16:creationId xmlns:a16="http://schemas.microsoft.com/office/drawing/2014/main" id="{4EBDDCC1-F8DC-A74C-1773-8917931BF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2468" y="26714468"/>
            <a:ext cx="10969625" cy="148978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228600" tIns="228600" rIns="228600" bIns="228600"/>
          <a:lstStyle/>
          <a:p>
            <a:pPr marL="274320" indent="-274320" algn="just">
              <a:buSzPct val="80000"/>
              <a:buFont typeface="Arial" panose="020B0604020202020204" pitchFamily="34" charset="0"/>
              <a:buChar char="•"/>
            </a:pPr>
            <a:r>
              <a:rPr lang="en-IN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Entropy: 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DNA </a:t>
            </a:r>
            <a:r>
              <a:rPr lang="en-IN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Cryptography+AES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Mtd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2) shows the highest entropy.</a:t>
            </a:r>
            <a:endParaRPr lang="en-GB" sz="4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74320" indent="-274320" algn="just">
              <a:buSzPct val="80000"/>
              <a:buFont typeface="Arial" panose="020B0604020202020204" pitchFamily="34" charset="0"/>
              <a:buChar char="•"/>
            </a:pPr>
            <a:r>
              <a:rPr lang="en-GB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Time: 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RSA and ECC combinations take the most time, while Blowfish, DNA (1 &amp; 2), and Chaotic methods are fastest.</a:t>
            </a:r>
            <a:endParaRPr lang="en-GB" sz="4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74320" indent="-274320" algn="just">
              <a:buSzPct val="80000"/>
              <a:buFont typeface="Arial" panose="020B0604020202020204" pitchFamily="34" charset="0"/>
              <a:buChar char="•"/>
            </a:pPr>
            <a:r>
              <a:rPr lang="en-IN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Histogram Correlation: 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hybrid algorithms achieve values close to 0, effectively hiding image patterns, relations and ensuring strong security.</a:t>
            </a:r>
            <a:endParaRPr lang="en-GB" sz="4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74320" indent="-274320" algn="just">
              <a:buSzPct val="80000"/>
              <a:buFont typeface="Arial" panose="020B0604020202020204" pitchFamily="34" charset="0"/>
              <a:buChar char="•"/>
            </a:pPr>
            <a:r>
              <a:rPr lang="en-IN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Reconstruction Loss: </a:t>
            </a:r>
            <a:r>
              <a:rPr lang="en-IN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images show near 0 loss, meaning models exactly recreate non-anomalous inputs. Anomalous images have more loss from replicating complex distortions. </a:t>
            </a:r>
          </a:p>
          <a:p>
            <a:pPr algn="just">
              <a:buSzPct val="80000"/>
            </a:pPr>
            <a:endParaRPr lang="en-GB" sz="5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7480D7-6AC4-5C33-F8D7-1AB4D5F288D2}"/>
              </a:ext>
            </a:extLst>
          </p:cNvPr>
          <p:cNvSpPr txBox="1"/>
          <p:nvPr/>
        </p:nvSpPr>
        <p:spPr>
          <a:xfrm>
            <a:off x="110641" y="30834534"/>
            <a:ext cx="9027013" cy="863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49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Confidentiality: </a:t>
            </a:r>
            <a:r>
              <a:rPr lang="en-US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Protects patient data from unauthorized access, ensuring privacy.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9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Integrity: </a:t>
            </a:r>
            <a:r>
              <a:rPr lang="en-IN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Maintains image accuracy and prevents tampering.</a:t>
            </a:r>
            <a:endParaRPr lang="en-US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9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Authenticity: </a:t>
            </a:r>
            <a:r>
              <a:rPr lang="en-US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Verifies the source and integrity of medical images.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9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Reliability: </a:t>
            </a:r>
            <a:r>
              <a:rPr lang="en-US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Guarantees consistent image availability.</a:t>
            </a:r>
            <a:endParaRPr lang="en-US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9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Anomaly Detection: </a:t>
            </a:r>
            <a:r>
              <a:rPr lang="en-IN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unauthorized changes for security.</a:t>
            </a:r>
            <a:endParaRPr lang="en-GB" sz="4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A2156263-5E0D-14B7-5027-94F55A88A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34" y="1105260"/>
            <a:ext cx="7706442" cy="4046507"/>
          </a:xfrm>
          <a:prstGeom prst="rect">
            <a:avLst/>
          </a:prstGeom>
        </p:spPr>
      </p:pic>
      <p:sp>
        <p:nvSpPr>
          <p:cNvPr id="3" name="Text Box 199">
            <a:extLst>
              <a:ext uri="{FF2B5EF4-FFF2-40B4-BE49-F238E27FC236}">
                <a16:creationId xmlns:a16="http://schemas.microsoft.com/office/drawing/2014/main" id="{683092E9-EE51-C0C9-21E3-BE15DED94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2466" y="25355814"/>
            <a:ext cx="10969625" cy="120626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lIns="228600" tIns="228600" rIns="228600" bIns="228600" anchor="ctr" anchorCtr="1"/>
          <a:lstStyle>
            <a:lvl1pPr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389438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INTERPRETATIONS/DISCUSSIONS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494A29-E493-8447-B32A-BAD295BF7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2346" y="23067401"/>
            <a:ext cx="9789867" cy="20043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AA73CB-1C5D-CC4E-1641-2C68B52D76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793"/>
          <a:stretch/>
        </p:blipFill>
        <p:spPr>
          <a:xfrm>
            <a:off x="25223690" y="20365542"/>
            <a:ext cx="6768403" cy="25633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1B8BC8-F411-3172-8123-21B02B9321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22469" y="20331888"/>
            <a:ext cx="1994140" cy="24879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62074D-D330-A2DE-BC84-81EB4A487B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1435"/>
          <a:stretch/>
        </p:blipFill>
        <p:spPr>
          <a:xfrm>
            <a:off x="23016609" y="20331888"/>
            <a:ext cx="2207081" cy="24879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1438FA-1DF8-C972-CFE7-9B98854949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0560" y="14888010"/>
            <a:ext cx="7092240" cy="309519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Box 270">
            <a:extLst>
              <a:ext uri="{FF2B5EF4-FFF2-40B4-BE49-F238E27FC236}">
                <a16:creationId xmlns:a16="http://schemas.microsoft.com/office/drawing/2014/main" id="{578431A1-25E4-A10A-67F1-4AE482C9B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3" y="39537962"/>
            <a:ext cx="9153801" cy="4213151"/>
          </a:xfrm>
          <a:prstGeom prst="rect">
            <a:avLst/>
          </a:prstGeom>
          <a:solidFill>
            <a:srgbClr val="003A74"/>
          </a:solidFill>
          <a:ln>
            <a:noFill/>
          </a:ln>
          <a:effectLst/>
        </p:spPr>
        <p:txBody>
          <a:bodyPr lIns="228600" tIns="228600" rIns="228600" bIns="228600"/>
          <a:lstStyle/>
          <a:p>
            <a:r>
              <a:rPr lang="en-GB" sz="5000" b="1" u="sng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SDG GOALS ADDRESSED:</a:t>
            </a:r>
            <a:endParaRPr lang="en-GB" sz="800" b="1" u="sng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9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 3: </a:t>
            </a:r>
            <a:r>
              <a:rPr lang="en-US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Health and Well-being</a:t>
            </a:r>
            <a:endParaRPr lang="en-GB" sz="4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9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 9: </a:t>
            </a:r>
            <a:r>
              <a:rPr lang="en-US" sz="4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Industry, Innovation, and Infrastructure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DBCD828-1EA9-2E13-D8BC-F01F605BCF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12347" y="37359771"/>
            <a:ext cx="9789866" cy="40943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DFDDD5D-7579-C010-D12A-542A5CE91A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96356" y="7741784"/>
            <a:ext cx="9721533" cy="62790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B9FBDB-4076-D5A7-55D0-C8A816F2BF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96355" y="14189425"/>
            <a:ext cx="9721533" cy="696953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69AEA76-5142-E41D-7354-3E9445AB3D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096355" y="21369520"/>
            <a:ext cx="9721533" cy="63407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88C64B7-C35C-E0CD-2019-9C32D26470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070957" y="27840920"/>
            <a:ext cx="9721532" cy="54973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5b8144-db23-4e09-9085-abd6062c042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44D9C443F4BA42A6736C53E236B96A" ma:contentTypeVersion="12" ma:contentTypeDescription="Create a new document." ma:contentTypeScope="" ma:versionID="c5548b4cb6d7fd78032c7d135cac19d4">
  <xsd:schema xmlns:xsd="http://www.w3.org/2001/XMLSchema" xmlns:xs="http://www.w3.org/2001/XMLSchema" xmlns:p="http://schemas.microsoft.com/office/2006/metadata/properties" xmlns:ns2="075b8144-db23-4e09-9085-abd6062c042c" xmlns:ns3="45545f66-b351-42e0-94ab-3141fd407e6b" targetNamespace="http://schemas.microsoft.com/office/2006/metadata/properties" ma:root="true" ma:fieldsID="791291ea58e41838c0837c6237ca4f31" ns2:_="" ns3:_="">
    <xsd:import namespace="075b8144-db23-4e09-9085-abd6062c042c"/>
    <xsd:import namespace="45545f66-b351-42e0-94ab-3141fd407e6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5b8144-db23-4e09-9085-abd6062c042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45f66-b351-42e0-94ab-3141fd407e6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26CDB5-B29F-4676-85F4-0B117673A7A0}">
  <ds:schemaRefs>
    <ds:schemaRef ds:uri="http://schemas.microsoft.com/office/2006/metadata/properties"/>
    <ds:schemaRef ds:uri="http://schemas.microsoft.com/office/infopath/2007/PartnerControls"/>
    <ds:schemaRef ds:uri="075b8144-db23-4e09-9085-abd6062c042c"/>
  </ds:schemaRefs>
</ds:datastoreItem>
</file>

<file path=customXml/itemProps2.xml><?xml version="1.0" encoding="utf-8"?>
<ds:datastoreItem xmlns:ds="http://schemas.openxmlformats.org/officeDocument/2006/customXml" ds:itemID="{58B25AB9-B562-4632-9DD6-13A8A08DB7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39EE10-F69A-4612-B800-C0CE25563F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5b8144-db23-4e09-9085-abd6062c042c"/>
    <ds:schemaRef ds:uri="45545f66-b351-42e0-94ab-3141fd407e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740</Words>
  <Application>Microsoft Office PowerPoint</Application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Impact</vt:lpstr>
      <vt:lpstr>Default Design</vt:lpstr>
      <vt:lpstr>PowerPoint Presentation</vt:lpstr>
    </vt:vector>
  </TitlesOfParts>
  <Company>Genigraphics 800.790.4001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poster 48 x 48 - D</dc:title>
  <dc:creator>Genigraphics 800.790.4001</dc:creator>
  <dc:description>To order poster prints visit us at www.genigraphics.com</dc:description>
  <cp:lastModifiedBy>Adi Adithyaaraja</cp:lastModifiedBy>
  <cp:revision>58</cp:revision>
  <dcterms:created xsi:type="dcterms:W3CDTF">2008-05-03T03:01:56Z</dcterms:created>
  <dcterms:modified xsi:type="dcterms:W3CDTF">2026-05-07T17:12:55Z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0x0101006644D9C443F4BA42A6736C53E236B96A</vt:lpwstr>
  </property>
</Properties>
</file>